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240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83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DengueAlert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C8382A"/>
                </a:solidFill>
              </a:rPr>
              <a:t>Recife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BBBB"/>
                </a:solidFill>
              </a:rPr>
              <a:t>Previsão de casos de dengue com Machine Learning e dados reais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931920"/>
            <a:ext cx="8412480" cy="27432"/>
          </a:xfrm>
          <a:prstGeom prst="rect">
            <a:avLst/>
          </a:prstGeom>
          <a:solidFill>
            <a:srgbClr val="44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4114800"/>
            <a:ext cx="8229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 err="1">
                <a:solidFill>
                  <a:srgbClr val="998888"/>
                </a:solidFill>
              </a:rPr>
              <a:t>Faculdade</a:t>
            </a:r>
            <a:r>
              <a:rPr sz="1200" b="0" dirty="0">
                <a:solidFill>
                  <a:srgbClr val="998888"/>
                </a:solidFill>
              </a:rPr>
              <a:t> </a:t>
            </a:r>
            <a:r>
              <a:rPr sz="1200" b="0" dirty="0" err="1">
                <a:solidFill>
                  <a:srgbClr val="998888"/>
                </a:solidFill>
              </a:rPr>
              <a:t>Estácio</a:t>
            </a:r>
            <a:r>
              <a:rPr sz="1200" b="0" dirty="0">
                <a:solidFill>
                  <a:srgbClr val="998888"/>
                </a:solidFill>
              </a:rPr>
              <a:t>  ·  João Vitor  ·  202</a:t>
            </a:r>
            <a:r>
              <a:rPr lang="pt-BR" sz="1200" b="0" dirty="0">
                <a:solidFill>
                  <a:srgbClr val="998888"/>
                </a:solidFill>
              </a:rPr>
              <a:t>6</a:t>
            </a:r>
            <a:endParaRPr sz="1200" b="0" dirty="0">
              <a:solidFill>
                <a:srgbClr val="998888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38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AA2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01.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CCCC"/>
                </a:solidFill>
              </a:rPr>
              <a:t>520 semanas · 51.429 casos reais · 94 bairros de Recife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3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410"/>
                </a:solidFill>
              </a:rPr>
              <a:t>Casos estimados de dengue — Recife (2015–2024)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8"/>
                </a:solidFill>
              </a:rPr>
              <a:t>Série temporal semanal com picos sazonais claros</a:t>
            </a:r>
          </a:p>
        </p:txBody>
      </p:sp>
      <p:pic>
        <p:nvPicPr>
          <p:cNvPr id="5" name="Picture 4" descr="casos_ao_longo_do_t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8229600" cy="268476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3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410"/>
                </a:solidFill>
              </a:rPr>
              <a:t>Sazonalidade e Distribuição de Alertas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8"/>
                </a:solidFill>
              </a:rPr>
              <a:t>Padrão mensal e semanas por nível epidemiológico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5E58"/>
                </a:solidFill>
              </a:rPr>
              <a:t>Média de casos por mês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188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5E58"/>
                </a:solidFill>
              </a:rPr>
              <a:t>Níveis de alerta (1=verde … 4=vermelho)</a:t>
            </a:r>
          </a:p>
        </p:txBody>
      </p:sp>
      <p:pic>
        <p:nvPicPr>
          <p:cNvPr id="7" name="Picture 6" descr="niveis_ale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463040"/>
            <a:ext cx="4297680" cy="32232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38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AA2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02.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CCCC"/>
                </a:solidFill>
              </a:rPr>
              <a:t>Regressão Linear · Random Forest · XGBoost + Cross-validation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3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410"/>
                </a:solidFill>
              </a:rPr>
              <a:t>Correlação: Temperatura, Umidade e Casos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8"/>
                </a:solidFill>
              </a:rPr>
              <a:t>Dispersão semanal — pares de variáveis climáticas vs casos</a:t>
            </a:r>
          </a:p>
        </p:txBody>
      </p:sp>
      <p:pic>
        <p:nvPicPr>
          <p:cNvPr id="5" name="Picture 4" descr="correl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82296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3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410"/>
                </a:solidFill>
              </a:rPr>
              <a:t>Resultados dos Modelos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8"/>
                </a:solidFill>
              </a:rPr>
              <a:t>Split temporal 80/20 · Validação cruzada 5-fold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28016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Modelo</a:t>
                      </a:r>
                    </a:p>
                  </a:txBody>
                  <a:tcPr>
                    <a:solidFill>
                      <a:srgbClr val="C838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C838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C838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C838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CV R² médio</a:t>
                      </a:r>
                    </a:p>
                  </a:txBody>
                  <a:tcPr>
                    <a:solidFill>
                      <a:srgbClr val="C838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410"/>
                          </a:solidFill>
                        </a:rPr>
                        <a:t>Regressão Linear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410"/>
                          </a:solidFill>
                        </a:rPr>
                        <a:t>21.9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410"/>
                          </a:solidFill>
                        </a:rPr>
                        <a:t>30.6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410"/>
                          </a:solidFill>
                        </a:rPr>
                        <a:t>0.976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410"/>
                          </a:solidFill>
                        </a:rPr>
                        <a:t>0.891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410"/>
                          </a:solidFill>
                        </a:rPr>
                        <a:t>Random Forest</a:t>
                      </a:r>
                    </a:p>
                  </a:txBody>
                  <a:tcPr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410"/>
                          </a:solidFill>
                        </a:rPr>
                        <a:t>17.5</a:t>
                      </a:r>
                    </a:p>
                  </a:txBody>
                  <a:tcPr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410"/>
                          </a:solidFill>
                        </a:rPr>
                        <a:t>41.0</a:t>
                      </a:r>
                    </a:p>
                  </a:txBody>
                  <a:tcPr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410"/>
                          </a:solidFill>
                        </a:rPr>
                        <a:t>0.958</a:t>
                      </a:r>
                    </a:p>
                  </a:txBody>
                  <a:tcPr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410"/>
                          </a:solidFill>
                        </a:rPr>
                        <a:t>0.877</a:t>
                      </a:r>
                    </a:p>
                  </a:txBody>
                  <a:tcPr>
                    <a:solidFill>
                      <a:srgbClr val="FA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410"/>
                          </a:solidFill>
                        </a:rPr>
                        <a:t>XGBoost ★</a:t>
                      </a:r>
                    </a:p>
                  </a:txBody>
                  <a:tcPr>
                    <a:solidFill>
                      <a:srgbClr val="FF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8382A"/>
                          </a:solidFill>
                        </a:rPr>
                        <a:t>14.3</a:t>
                      </a:r>
                    </a:p>
                  </a:txBody>
                  <a:tcPr>
                    <a:solidFill>
                      <a:srgbClr val="FF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410"/>
                          </a:solidFill>
                        </a:rPr>
                        <a:t>38.1</a:t>
                      </a:r>
                    </a:p>
                  </a:txBody>
                  <a:tcPr>
                    <a:solidFill>
                      <a:srgbClr val="FF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410"/>
                          </a:solidFill>
                        </a:rPr>
                        <a:t>0.964</a:t>
                      </a:r>
                    </a:p>
                  </a:txBody>
                  <a:tcPr>
                    <a:solidFill>
                      <a:srgbClr val="FF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410"/>
                          </a:solidFill>
                        </a:rPr>
                        <a:t>0.876</a:t>
                      </a:r>
                    </a:p>
                  </a:txBody>
                  <a:tcPr>
                    <a:solidFill>
                      <a:srgbClr val="FF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74320" y="4023360"/>
            <a:ext cx="8595360" cy="54864"/>
          </a:xfrm>
          <a:prstGeom prst="rect">
            <a:avLst/>
          </a:prstGeom>
          <a:solidFill>
            <a:srgbClr val="C83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4160520"/>
            <a:ext cx="859536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4160520"/>
            <a:ext cx="64008" cy="1097280"/>
          </a:xfrm>
          <a:prstGeom prst="rect">
            <a:avLst/>
          </a:prstGeom>
          <a:solidFill>
            <a:srgbClr val="C83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8"/>
                </a:solidFill>
              </a:rPr>
              <a:t>💡  XGBoost erra em média apenas 14,3 casos/semana. Os lag features (casos anteriores) respondem por mais de 70% da importância do modelo, confirmando forte autocorrelação temporal.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3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410"/>
                </a:solidFill>
              </a:rPr>
              <a:t>Comparativo MAE, RMSE e R² — 3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8"/>
                </a:solidFill>
              </a:rPr>
              <a:t>XGBoost obteve menor MAE (14,3 casos/semana)</a:t>
            </a:r>
          </a:p>
        </p:txBody>
      </p:sp>
      <p:pic>
        <p:nvPicPr>
          <p:cNvPr id="5" name="Picture 4" descr="comparativo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8229600" cy="24605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3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410"/>
                </a:solidFill>
              </a:rPr>
              <a:t>Importância das Features — XGBoost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8"/>
                </a:solidFill>
              </a:rPr>
              <a:t>Lag features dominam: casos das semanas anteriores explicam &gt;70% do modelo</a:t>
            </a:r>
          </a:p>
        </p:txBody>
      </p:sp>
      <p:pic>
        <p:nvPicPr>
          <p:cNvPr id="5" name="Picture 4" descr="importancia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8229600" cy="509054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3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410"/>
                </a:solidFill>
              </a:rPr>
              <a:t>Previsão vs Real — Regressão Linear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8"/>
                </a:solidFill>
              </a:rPr>
              <a:t>Baseline — R² = 0.976 · MAE = 21.9 casos/semana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3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410"/>
                </a:solidFill>
              </a:rPr>
              <a:t>Previsão vs Real — Random Forest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8"/>
                </a:solidFill>
              </a:rPr>
              <a:t>200 estimadores — R² = 0.958 · MAE = 17.5 casos/semana</a:t>
            </a:r>
          </a:p>
        </p:txBody>
      </p:sp>
      <p:pic>
        <p:nvPicPr>
          <p:cNvPr id="5" name="Picture 4" descr="previsao_random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8229600" cy="229828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3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410"/>
                </a:solidFill>
              </a:rPr>
              <a:t>Previsão vs Real — XGBoost 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5E58"/>
                </a:solidFill>
              </a:rPr>
              <a:t>Melhor modelo — R² = 0.964 · MAE = 14.3 casos/semana</a:t>
            </a:r>
          </a:p>
        </p:txBody>
      </p:sp>
      <p:pic>
        <p:nvPicPr>
          <p:cNvPr id="5" name="Picture 4" descr="previsao_xg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8229600" cy="229828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38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AA2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27432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>
                <a:solidFill>
                  <a:srgbClr val="FFFFFF"/>
                </a:solidFill>
              </a:rPr>
              <a:t>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33172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22677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R² acima de 0.96 — alta precisão preditiva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990087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2926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51.429 casos reais confirmados da Prefeitura do Recife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648456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358444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Sistema completo: ingestão → ML → API → frontend → mapa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306824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4242816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Potencial real de apoio à Vigilância Epidemiológica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AA2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20" y="62636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CCCC"/>
                </a:solidFill>
              </a:rPr>
              <a:t>github.com/JoaoVitorXdz/dengue-recife  ·  Faculdade Estácio  ·  João Vitor  · 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327</Words>
  <Application>Microsoft Office PowerPoint</Application>
  <PresentationFormat>Apresentação na tela (4:3)</PresentationFormat>
  <Paragraphs>56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Joao Vitor</cp:lastModifiedBy>
  <cp:revision>2</cp:revision>
  <dcterms:created xsi:type="dcterms:W3CDTF">2013-01-27T09:14:16Z</dcterms:created>
  <dcterms:modified xsi:type="dcterms:W3CDTF">2026-05-08T18:43:50Z</dcterms:modified>
  <cp:category/>
</cp:coreProperties>
</file>